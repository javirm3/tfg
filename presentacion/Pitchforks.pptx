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537" r:id="rId2"/>
    <p:sldId id="259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3"/>
    <p:restoredTop sz="97020"/>
  </p:normalViewPr>
  <p:slideViewPr>
    <p:cSldViewPr snapToGrid="0" snapToObjects="1" showGuides="1">
      <p:cViewPr varScale="1">
        <p:scale>
          <a:sx n="147" d="100"/>
          <a:sy n="147" d="100"/>
        </p:scale>
        <p:origin x="216" y="3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EBE089-74D3-7B49-A7B6-D8D8C03F9682}" type="datetimeFigureOut">
              <a:rPr lang="es-ES" smtClean="0"/>
              <a:t>5/6/25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3D89A3-0F2F-F045-A3A0-2ED016043D7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6216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21ad862b62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21ad862b62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3732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35775-A36D-564E-A831-17195EA40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F54BF9-1982-2F41-AFCA-EE1305CE0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148CE-DD2E-A94D-AC4C-18CD6D3D5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0041-B7B1-3943-9533-D1F1F173148B}" type="datetimeFigureOut">
              <a:rPr lang="es-ES" smtClean="0"/>
              <a:t>5/6/25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D03E6-F5E6-BC4C-BA5F-C0BDCF439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34A7C-8906-FE4F-B9E0-B12DEDB9B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ADFF-081E-E545-928E-D14AABD7D38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4801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DC2B9-A9B3-934F-BF34-3D21EF45D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67D76-D81C-EC4E-B733-ADECA9858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8ED08-62ED-5545-AB35-546151A1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0041-B7B1-3943-9533-D1F1F173148B}" type="datetimeFigureOut">
              <a:rPr lang="es-ES" smtClean="0"/>
              <a:t>5/6/25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73CDC-4EDF-744F-8619-71EB902C6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7A095-D56C-2445-B894-BE7F361E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ADFF-081E-E545-928E-D14AABD7D38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5116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F8FF6-FA0A-6745-809C-E62B0B6D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8E04A-6972-3A4F-B236-BBBDFB05C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1509C-FABB-0241-83A6-B2363D54D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0041-B7B1-3943-9533-D1F1F173148B}" type="datetimeFigureOut">
              <a:rPr lang="es-ES" smtClean="0"/>
              <a:t>5/6/25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BE408-B48A-4D46-93E3-9237DB392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BD9BC-0DA2-D14D-86C1-297FE8956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ADFF-081E-E545-928E-D14AABD7D38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6520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77B07-0AC1-514A-AAB1-DB91BAD76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5AA01-95B2-4441-93A7-55D3197419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78ED08-AD30-EC47-BB6B-DFB58E725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905632-429E-9447-8672-8FD209081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0041-B7B1-3943-9533-D1F1F173148B}" type="datetimeFigureOut">
              <a:rPr lang="es-ES" smtClean="0"/>
              <a:t>5/6/25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6D5FD1-D474-F64F-AC16-E6EE40291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1A78-34B7-4C48-B01E-91F354772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ADFF-081E-E545-928E-D14AABD7D38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2629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60D3C-8CFF-784C-B673-3319ED858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1E610-CB67-6A4B-B62E-3DDDD473D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422F94-D793-4044-A8D5-46146A16A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A3E985-1250-FF4E-AD9A-A8F9EE4D47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A1EB41-8D35-5147-84B4-88046C6082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301859-DA79-824F-B974-84E699D65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0041-B7B1-3943-9533-D1F1F173148B}" type="datetimeFigureOut">
              <a:rPr lang="es-ES" smtClean="0"/>
              <a:t>5/6/25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7C7C61-DCBB-1041-94E8-1452A482F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F482ED-4AA8-C04A-97B9-2C33AF058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ADFF-081E-E545-928E-D14AABD7D38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5550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A2E92-D87D-3040-A405-1ACC3F2CE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DE1144-294F-8A48-A5E7-26C747492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0041-B7B1-3943-9533-D1F1F173148B}" type="datetimeFigureOut">
              <a:rPr lang="es-ES" smtClean="0"/>
              <a:t>5/6/25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F5513A-80E2-C248-8698-33C4B23CE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6CD6D1-BA39-044C-9A2F-AC900CEBA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ADFF-081E-E545-928E-D14AABD7D38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7986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D05440-4943-D74A-82CD-9BABF55B4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0041-B7B1-3943-9533-D1F1F173148B}" type="datetimeFigureOut">
              <a:rPr lang="es-ES" smtClean="0"/>
              <a:t>5/6/25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907F54-9765-1740-A4E8-89208C8C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10F27-FD3C-6942-BDA3-E35AAFA6C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ADFF-081E-E545-928E-D14AABD7D38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4505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E123E-FCD7-4D48-AD58-6B80EF97F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3BBE2-C1D3-944A-BDD6-35BE70ABF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79CD36-9408-7348-938F-ED758E7A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3FF5D8-5DE9-BA42-834B-B4D9A7D39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0041-B7B1-3943-9533-D1F1F173148B}" type="datetimeFigureOut">
              <a:rPr lang="es-ES" smtClean="0"/>
              <a:t>5/6/25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B40E9-A92E-364A-9BB6-6615F61CA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EB61C-2A1E-ED47-A4BE-4ADDAB62A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ADFF-081E-E545-928E-D14AABD7D38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6889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0A52-F47F-0347-BC8E-2A4350253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C219F1-2241-1A4D-8D1D-24436018CF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6C258-E050-F34C-8B2A-1DA018E13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3995E-50D8-FE41-9744-FA96C97C4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0041-B7B1-3943-9533-D1F1F173148B}" type="datetimeFigureOut">
              <a:rPr lang="es-ES" smtClean="0"/>
              <a:t>5/6/25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E2FE3-1D77-7F40-9689-4FEAE7614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E46814-8E20-6743-9E68-7313A600D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ADFF-081E-E545-928E-D14AABD7D38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6960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B694F-A0C6-C24A-9780-FA819BEB7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0E02E5-53CD-EA4C-9F2B-5CDD963162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21BC1-5245-D841-A8CB-59F316E12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0041-B7B1-3943-9533-D1F1F173148B}" type="datetimeFigureOut">
              <a:rPr lang="es-ES" smtClean="0"/>
              <a:t>5/6/25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76E24-3794-F544-973D-888C0A8A2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A4E95-0A80-EA4F-8D9C-1AA429E0A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ADFF-081E-E545-928E-D14AABD7D38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777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0DE721-6A3E-584D-9873-38A4E8AB8B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42EDD7-EBEC-B441-8513-985361D01B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AF003-E0AF-724A-B9D8-EE2DD078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0041-B7B1-3943-9533-D1F1F173148B}" type="datetimeFigureOut">
              <a:rPr lang="es-ES" smtClean="0"/>
              <a:t>5/6/25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5721C-F1AA-7F4F-88A6-7B19148A0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6B5D8-5638-7542-9B7A-13989B54C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ADFF-081E-E545-928E-D14AABD7D38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7757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9C2172-D3CA-3546-8EE6-0C9DA63CF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085A6-1B34-8548-853E-A532E445E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34A92-9866-EA45-9B01-28CBD7E10C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B0041-B7B1-3943-9533-D1F1F173148B}" type="datetimeFigureOut">
              <a:rPr lang="es-ES" smtClean="0"/>
              <a:t>5/6/25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815C5-1D9B-5348-8F4B-1530CBE965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9A9D9-EEA2-1242-92E7-3B34920832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FAADFF-081E-E545-928E-D14AABD7D38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2585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B77E0D86-4525-B744-8F8B-FEF32BFC22B2}"/>
              </a:ext>
            </a:extLst>
          </p:cNvPr>
          <p:cNvGrpSpPr/>
          <p:nvPr/>
        </p:nvGrpSpPr>
        <p:grpSpPr>
          <a:xfrm>
            <a:off x="7722342" y="1386490"/>
            <a:ext cx="3816844" cy="2609711"/>
            <a:chOff x="5956348" y="1039867"/>
            <a:chExt cx="2862633" cy="195728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C5C1DA0-BE2E-8F46-BAFD-FF96940EAE77}"/>
                </a:ext>
              </a:extLst>
            </p:cNvPr>
            <p:cNvSpPr/>
            <p:nvPr/>
          </p:nvSpPr>
          <p:spPr>
            <a:xfrm>
              <a:off x="7861301" y="1039867"/>
              <a:ext cx="957680" cy="1950933"/>
            </a:xfrm>
            <a:prstGeom prst="rect">
              <a:avLst/>
            </a:prstGeom>
            <a:solidFill>
              <a:srgbClr val="92D050">
                <a:alpha val="3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315609A-2796-4A40-A995-1749B8023724}"/>
                </a:ext>
              </a:extLst>
            </p:cNvPr>
            <p:cNvSpPr/>
            <p:nvPr/>
          </p:nvSpPr>
          <p:spPr>
            <a:xfrm>
              <a:off x="5956348" y="1039868"/>
              <a:ext cx="502387" cy="1950934"/>
            </a:xfrm>
            <a:prstGeom prst="rect">
              <a:avLst/>
            </a:prstGeom>
            <a:solidFill>
              <a:srgbClr val="774E95">
                <a:alpha val="2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24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6FAB1A1-3811-864D-89AA-9902DCC4858C}"/>
                </a:ext>
              </a:extLst>
            </p:cNvPr>
            <p:cNvSpPr/>
            <p:nvPr/>
          </p:nvSpPr>
          <p:spPr>
            <a:xfrm>
              <a:off x="6472530" y="1046217"/>
              <a:ext cx="1380304" cy="1950933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6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2400"/>
            </a:p>
          </p:txBody>
        </p:sp>
      </p:grpSp>
      <p:pic>
        <p:nvPicPr>
          <p:cNvPr id="6" name="Main graphic">
            <a:extLst>
              <a:ext uri="{FF2B5EF4-FFF2-40B4-BE49-F238E27FC236}">
                <a16:creationId xmlns:a16="http://schemas.microsoft.com/office/drawing/2014/main" id="{7422B316-A581-D944-9742-9D3C158CEF99}"/>
              </a:ext>
            </a:extLst>
          </p:cNvPr>
          <p:cNvPicPr/>
          <p:nvPr/>
        </p:nvPicPr>
        <p:blipFill rotWithShape="1">
          <a:blip r:embed="rId2"/>
          <a:srcRect l="14802" b="59441"/>
          <a:stretch/>
        </p:blipFill>
        <p:spPr>
          <a:xfrm>
            <a:off x="-2493384" y="1239554"/>
            <a:ext cx="2244192" cy="1584693"/>
          </a:xfrm>
          <a:prstGeom prst="rect">
            <a:avLst/>
          </a:prstGeom>
          <a:ln>
            <a:noFill/>
          </a:ln>
        </p:spPr>
      </p:pic>
      <p:grpSp>
        <p:nvGrpSpPr>
          <p:cNvPr id="6151" name="Group 6150">
            <a:extLst>
              <a:ext uri="{FF2B5EF4-FFF2-40B4-BE49-F238E27FC236}">
                <a16:creationId xmlns:a16="http://schemas.microsoft.com/office/drawing/2014/main" id="{51D520FD-5EB1-9142-AB27-801AE0164CFF}"/>
              </a:ext>
            </a:extLst>
          </p:cNvPr>
          <p:cNvGrpSpPr/>
          <p:nvPr/>
        </p:nvGrpSpPr>
        <p:grpSpPr>
          <a:xfrm>
            <a:off x="6721503" y="1413543"/>
            <a:ext cx="4755158" cy="3518600"/>
            <a:chOff x="5205719" y="1060157"/>
            <a:chExt cx="3566369" cy="26389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AB7B156-BA7D-CC42-BC50-2F21BD7F62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2957" t="553" r="14322" b="-553"/>
            <a:stretch/>
          </p:blipFill>
          <p:spPr>
            <a:xfrm>
              <a:off x="5825340" y="1060157"/>
              <a:ext cx="2946748" cy="197098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69A0415-8A09-DB4D-B71C-81AF87891B43}"/>
                </a:ext>
              </a:extLst>
            </p:cNvPr>
            <p:cNvSpPr txBox="1"/>
            <p:nvPr/>
          </p:nvSpPr>
          <p:spPr>
            <a:xfrm rot="16200000">
              <a:off x="4630721" y="1718115"/>
              <a:ext cx="1742417" cy="5924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400" dirty="0"/>
                <a:t>Population Rate  </a:t>
              </a:r>
              <a:r>
                <a:rPr lang="en-AU" sz="2133" i="1" dirty="0" err="1"/>
                <a:t>r</a:t>
              </a:r>
              <a:r>
                <a:rPr lang="en-AU" sz="2133" i="1" baseline="-25000" dirty="0" err="1"/>
                <a:t>R</a:t>
              </a:r>
              <a:endParaRPr lang="en-AU" sz="2133" i="1" baseline="-250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17F53C-1487-4649-AACE-13731CC33A21}"/>
                </a:ext>
              </a:extLst>
            </p:cNvPr>
            <p:cNvSpPr txBox="1"/>
            <p:nvPr/>
          </p:nvSpPr>
          <p:spPr>
            <a:xfrm>
              <a:off x="6059938" y="3075859"/>
              <a:ext cx="2569047" cy="623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400" dirty="0"/>
                <a:t>Unspecific excitatory input </a:t>
              </a:r>
              <a:r>
                <a:rPr lang="en-AU" sz="2400" i="1" dirty="0" err="1"/>
                <a:t>I</a:t>
              </a:r>
              <a:r>
                <a:rPr lang="en-AU" sz="2400" i="1" baseline="-25000" dirty="0" err="1"/>
                <a:t>ext</a:t>
              </a:r>
              <a:endParaRPr lang="en-AU" sz="2400" dirty="0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4BB87E09-8BCD-AB48-9F8B-B32614AA9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383" y="1689641"/>
            <a:ext cx="2354988" cy="1901015"/>
          </a:xfrm>
          <a:prstGeom prst="rect">
            <a:avLst/>
          </a:prstGeom>
          <a:ln>
            <a:noFill/>
          </a:ln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D552FDD-D2C9-C149-B3F2-0EECA99DC119}"/>
              </a:ext>
            </a:extLst>
          </p:cNvPr>
          <p:cNvCxnSpPr/>
          <p:nvPr/>
        </p:nvCxnSpPr>
        <p:spPr>
          <a:xfrm flipV="1">
            <a:off x="898840" y="3533648"/>
            <a:ext cx="0" cy="88574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FA28492-C65C-E745-95BE-24C30AC6FCDB}"/>
              </a:ext>
            </a:extLst>
          </p:cNvPr>
          <p:cNvCxnSpPr>
            <a:cxnSpLocks/>
          </p:cNvCxnSpPr>
          <p:nvPr/>
        </p:nvCxnSpPr>
        <p:spPr>
          <a:xfrm flipV="1">
            <a:off x="1823693" y="3533648"/>
            <a:ext cx="0" cy="88574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CE517DE-4FC9-CA4B-8824-492A0CC1AFDA}"/>
              </a:ext>
            </a:extLst>
          </p:cNvPr>
          <p:cNvCxnSpPr>
            <a:cxnSpLocks/>
          </p:cNvCxnSpPr>
          <p:nvPr/>
        </p:nvCxnSpPr>
        <p:spPr>
          <a:xfrm>
            <a:off x="876301" y="4399816"/>
            <a:ext cx="982980" cy="0"/>
          </a:xfrm>
          <a:prstGeom prst="straightConnector1">
            <a:avLst/>
          </a:prstGeom>
          <a:ln w="571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2F7D73D-B647-BC4B-8388-287262B3E247}"/>
              </a:ext>
            </a:extLst>
          </p:cNvPr>
          <p:cNvCxnSpPr>
            <a:cxnSpLocks/>
          </p:cNvCxnSpPr>
          <p:nvPr/>
        </p:nvCxnSpPr>
        <p:spPr>
          <a:xfrm>
            <a:off x="1347424" y="4373498"/>
            <a:ext cx="0" cy="359505"/>
          </a:xfrm>
          <a:prstGeom prst="straightConnector1">
            <a:avLst/>
          </a:prstGeom>
          <a:ln w="571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536F65F-E669-3947-A013-6D0313FA18F8}"/>
              </a:ext>
            </a:extLst>
          </p:cNvPr>
          <p:cNvSpPr txBox="1"/>
          <p:nvPr/>
        </p:nvSpPr>
        <p:spPr>
          <a:xfrm>
            <a:off x="621845" y="4784742"/>
            <a:ext cx="16648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Exc. Input </a:t>
            </a:r>
            <a:r>
              <a:rPr lang="en-AU" sz="2400" i="1" dirty="0" err="1"/>
              <a:t>I</a:t>
            </a:r>
            <a:r>
              <a:rPr lang="en-AU" sz="2400" i="1" baseline="-25000" dirty="0" err="1"/>
              <a:t>ext</a:t>
            </a:r>
            <a:endParaRPr lang="en-AU" sz="2400" i="1" baseline="-25000" dirty="0"/>
          </a:p>
        </p:txBody>
      </p:sp>
      <p:pic>
        <p:nvPicPr>
          <p:cNvPr id="6146" name="Picture 2" descr="https://lh4.googleusercontent.com/ycSIYQBeR_X0mzRV2YnZLbCRORxCVy0vs7qWgJ_gimWO6yX3QQqZADehYYYQLGRuv6lA8BhKXt9RaS31Qlt08Oj4_CEHH4Oo732_NI0WFfR1ZF7Iz_HTXk-Ks5poTil_6R1EUYZcHlxe1zY5H5cjTQ=s2048">
            <a:extLst>
              <a:ext uri="{FF2B5EF4-FFF2-40B4-BE49-F238E27FC236}">
                <a16:creationId xmlns:a16="http://schemas.microsoft.com/office/drawing/2014/main" id="{2E6E8348-4C9B-2C44-84D9-8F6A6B42C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185" y="1688313"/>
            <a:ext cx="3371019" cy="1701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8661034-71CA-8E4A-B359-4A1B54A6B9B1}"/>
              </a:ext>
            </a:extLst>
          </p:cNvPr>
          <p:cNvCxnSpPr>
            <a:cxnSpLocks/>
          </p:cNvCxnSpPr>
          <p:nvPr/>
        </p:nvCxnSpPr>
        <p:spPr>
          <a:xfrm flipV="1">
            <a:off x="2098603" y="3520847"/>
            <a:ext cx="0" cy="627087"/>
          </a:xfrm>
          <a:prstGeom prst="straightConnector1">
            <a:avLst/>
          </a:prstGeom>
          <a:ln w="57150">
            <a:solidFill>
              <a:srgbClr val="F68D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A87B8B1-3F3B-BE43-AF7A-B4D4F7B09FA4}"/>
              </a:ext>
            </a:extLst>
          </p:cNvPr>
          <p:cNvCxnSpPr>
            <a:cxnSpLocks/>
          </p:cNvCxnSpPr>
          <p:nvPr/>
        </p:nvCxnSpPr>
        <p:spPr>
          <a:xfrm flipV="1">
            <a:off x="658443" y="3520847"/>
            <a:ext cx="0" cy="627087"/>
          </a:xfrm>
          <a:prstGeom prst="straightConnector1">
            <a:avLst/>
          </a:prstGeom>
          <a:ln w="57150">
            <a:solidFill>
              <a:srgbClr val="139A9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2ADE6679-4E50-6346-BA57-DE45E7EB99EB}"/>
              </a:ext>
            </a:extLst>
          </p:cNvPr>
          <p:cNvSpPr/>
          <p:nvPr/>
        </p:nvSpPr>
        <p:spPr>
          <a:xfrm>
            <a:off x="2842121" y="1656071"/>
            <a:ext cx="3473404" cy="1771787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248DE1A-728C-A443-BF57-0239C0DA0AED}"/>
              </a:ext>
            </a:extLst>
          </p:cNvPr>
          <p:cNvSpPr/>
          <p:nvPr/>
        </p:nvSpPr>
        <p:spPr>
          <a:xfrm>
            <a:off x="-10076" y="6477860"/>
            <a:ext cx="88385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Wong &amp; Wang ‘06; </a:t>
            </a:r>
            <a:r>
              <a:rPr lang="en-AU" sz="2400" i="1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Roxin</a:t>
            </a:r>
            <a:r>
              <a:rPr lang="en-AU" sz="2400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&amp; </a:t>
            </a:r>
            <a:r>
              <a:rPr lang="en-AU" sz="2400" i="1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Ledberg</a:t>
            </a:r>
            <a:r>
              <a:rPr lang="en-AU" sz="2400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’08; Prat-Ortega et al 2021</a:t>
            </a:r>
            <a:endParaRPr lang="en-AU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7AA04FE-3BBD-2243-A4E6-47B3A234F8C7}"/>
              </a:ext>
            </a:extLst>
          </p:cNvPr>
          <p:cNvSpPr/>
          <p:nvPr/>
        </p:nvSpPr>
        <p:spPr>
          <a:xfrm>
            <a:off x="1892660" y="4099288"/>
            <a:ext cx="3738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i="1"/>
              <a:t>I</a:t>
            </a:r>
            <a:r>
              <a:rPr lang="en-AU" sz="2400" i="1" baseline="-25000"/>
              <a:t>R</a:t>
            </a:r>
            <a:endParaRPr lang="en-AU" sz="240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39BBDF2-660F-6D44-BD76-082A28C25239}"/>
              </a:ext>
            </a:extLst>
          </p:cNvPr>
          <p:cNvSpPr/>
          <p:nvPr/>
        </p:nvSpPr>
        <p:spPr>
          <a:xfrm>
            <a:off x="430867" y="4099288"/>
            <a:ext cx="3481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i="1"/>
              <a:t>I</a:t>
            </a:r>
            <a:r>
              <a:rPr lang="en-AU" sz="2400" i="1" baseline="-25000"/>
              <a:t>L</a:t>
            </a:r>
            <a:endParaRPr lang="en-AU" sz="2400"/>
          </a:p>
        </p:txBody>
      </p:sp>
      <p:grpSp>
        <p:nvGrpSpPr>
          <p:cNvPr id="44" name="Google Shape;231;p28">
            <a:extLst>
              <a:ext uri="{FF2B5EF4-FFF2-40B4-BE49-F238E27FC236}">
                <a16:creationId xmlns:a16="http://schemas.microsoft.com/office/drawing/2014/main" id="{89719609-CC27-5D42-841D-13750B10905F}"/>
              </a:ext>
            </a:extLst>
          </p:cNvPr>
          <p:cNvGrpSpPr/>
          <p:nvPr/>
        </p:nvGrpSpPr>
        <p:grpSpPr>
          <a:xfrm>
            <a:off x="3223124" y="5091025"/>
            <a:ext cx="2841528" cy="668243"/>
            <a:chOff x="2854175" y="3336125"/>
            <a:chExt cx="2435259" cy="572700"/>
          </a:xfrm>
        </p:grpSpPr>
        <p:pic>
          <p:nvPicPr>
            <p:cNvPr id="45" name="Google Shape;232;p28">
              <a:extLst>
                <a:ext uri="{FF2B5EF4-FFF2-40B4-BE49-F238E27FC236}">
                  <a16:creationId xmlns:a16="http://schemas.microsoft.com/office/drawing/2014/main" id="{EB9012B5-BCC3-FE4E-8610-CA60CC185561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  <a:biLevel thresh="75000"/>
            </a:blip>
            <a:srcRect r="28412"/>
            <a:stretch/>
          </p:blipFill>
          <p:spPr>
            <a:xfrm>
              <a:off x="2854175" y="3336125"/>
              <a:ext cx="1879750" cy="57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" name="Google Shape;233;p28">
              <a:extLst>
                <a:ext uri="{FF2B5EF4-FFF2-40B4-BE49-F238E27FC236}">
                  <a16:creationId xmlns:a16="http://schemas.microsoft.com/office/drawing/2014/main" id="{C2ADF45F-0072-8F4E-8D16-DE06CFEDB2E1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  <a:biLevel thresh="75000"/>
            </a:blip>
            <a:srcRect l="79932"/>
            <a:stretch/>
          </p:blipFill>
          <p:spPr>
            <a:xfrm>
              <a:off x="4762508" y="3336125"/>
              <a:ext cx="526926" cy="572700"/>
            </a:xfrm>
            <a:prstGeom prst="rect">
              <a:avLst/>
            </a:prstGeom>
            <a:noFill/>
            <a:ln>
              <a:noFill/>
            </a:ln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439DC8E-B2EE-DE4B-9F69-7EF3920B04A8}"/>
                  </a:ext>
                </a:extLst>
              </p:cNvPr>
              <p:cNvSpPr txBox="1"/>
              <p:nvPr/>
            </p:nvSpPr>
            <p:spPr>
              <a:xfrm>
                <a:off x="3386569" y="4563289"/>
                <a:ext cx="230651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0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AU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AU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AU" sz="2000" i="1">
                        <a:latin typeface="Cambria Math" panose="02040503050406030204" pitchFamily="18" charset="0"/>
                      </a:rPr>
                      <m:t>)−</m:t>
                    </m:r>
                  </m:oMath>
                </a14:m>
                <a:r>
                  <a:rPr lang="en-AU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AU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AU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000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439DC8E-B2EE-DE4B-9F69-7EF3920B0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6569" y="4563289"/>
                <a:ext cx="2306516" cy="307777"/>
              </a:xfrm>
              <a:prstGeom prst="rect">
                <a:avLst/>
              </a:prstGeom>
              <a:blipFill>
                <a:blip r:embed="rId7"/>
                <a:stretch>
                  <a:fillRect l="-2747" b="-2692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E306DE4F-C56B-5146-919B-068A0D2CC9B6}"/>
              </a:ext>
            </a:extLst>
          </p:cNvPr>
          <p:cNvSpPr/>
          <p:nvPr/>
        </p:nvSpPr>
        <p:spPr>
          <a:xfrm>
            <a:off x="2842121" y="4458788"/>
            <a:ext cx="3473404" cy="1439817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50" name="Google Shape;94;p16">
            <a:extLst>
              <a:ext uri="{FF2B5EF4-FFF2-40B4-BE49-F238E27FC236}">
                <a16:creationId xmlns:a16="http://schemas.microsoft.com/office/drawing/2014/main" id="{67118344-95DB-3843-A216-D56905981F48}"/>
              </a:ext>
            </a:extLst>
          </p:cNvPr>
          <p:cNvSpPr txBox="1"/>
          <p:nvPr/>
        </p:nvSpPr>
        <p:spPr>
          <a:xfrm>
            <a:off x="1565536" y="148283"/>
            <a:ext cx="9199600" cy="5436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en-AU" sz="2933" dirty="0">
                <a:solidFill>
                  <a:schemeClr val="dk1"/>
                </a:solidFill>
              </a:rPr>
              <a:t>Short-term Memory models: attractor dynamics</a:t>
            </a:r>
            <a:endParaRPr lang="en-AU" sz="2933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2152C46-FD67-5C46-ABDF-08778F7DEA3A}"/>
              </a:ext>
            </a:extLst>
          </p:cNvPr>
          <p:cNvGrpSpPr/>
          <p:nvPr/>
        </p:nvGrpSpPr>
        <p:grpSpPr>
          <a:xfrm>
            <a:off x="10527900" y="4786845"/>
            <a:ext cx="1882275" cy="1988928"/>
            <a:chOff x="7644064" y="3896057"/>
            <a:chExt cx="1411706" cy="149169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01F2E01-E419-6644-A380-30E4FBF678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59860" b="71551"/>
            <a:stretch/>
          </p:blipFill>
          <p:spPr>
            <a:xfrm>
              <a:off x="7730121" y="3896057"/>
              <a:ext cx="1080276" cy="927213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308277F-D1A8-0B4F-A599-42F8F4CC7AD8}"/>
                </a:ext>
              </a:extLst>
            </p:cNvPr>
            <p:cNvSpPr txBox="1"/>
            <p:nvPr/>
          </p:nvSpPr>
          <p:spPr>
            <a:xfrm>
              <a:off x="7644064" y="4764505"/>
              <a:ext cx="1411706" cy="623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400" dirty="0" err="1"/>
                <a:t>winner-take-all</a:t>
              </a:r>
              <a:endParaRPr lang="es-ES" sz="2400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11C87CA-44B2-4B44-A3DC-0FA8EF4A8162}"/>
              </a:ext>
            </a:extLst>
          </p:cNvPr>
          <p:cNvGrpSpPr/>
          <p:nvPr/>
        </p:nvGrpSpPr>
        <p:grpSpPr>
          <a:xfrm>
            <a:off x="8758473" y="4822431"/>
            <a:ext cx="1882275" cy="2011521"/>
            <a:chOff x="6444208" y="3879112"/>
            <a:chExt cx="1411706" cy="1508641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3324E20-4618-584D-BC3A-2046FB18BE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24992" r="39370" b="71551"/>
            <a:stretch/>
          </p:blipFill>
          <p:spPr>
            <a:xfrm>
              <a:off x="6627613" y="3879112"/>
              <a:ext cx="959096" cy="927213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DF76BD7-46DE-4E42-8C5B-1DD16777A717}"/>
                </a:ext>
              </a:extLst>
            </p:cNvPr>
            <p:cNvSpPr txBox="1"/>
            <p:nvPr/>
          </p:nvSpPr>
          <p:spPr>
            <a:xfrm>
              <a:off x="6444208" y="4764505"/>
              <a:ext cx="1411706" cy="623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400" dirty="0" err="1"/>
                <a:t>Multi-stability</a:t>
              </a:r>
              <a:endParaRPr lang="es-ES" sz="2400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D4E2118-200C-BE41-86CF-102234DCB0D7}"/>
              </a:ext>
            </a:extLst>
          </p:cNvPr>
          <p:cNvGrpSpPr/>
          <p:nvPr/>
        </p:nvGrpSpPr>
        <p:grpSpPr>
          <a:xfrm>
            <a:off x="6787491" y="4621313"/>
            <a:ext cx="1498936" cy="1358151"/>
            <a:chOff x="5287776" y="3757789"/>
            <a:chExt cx="1124202" cy="101861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328D25A-5D41-8649-B05C-0C74CF09B1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74334" b="71551"/>
            <a:stretch/>
          </p:blipFill>
          <p:spPr>
            <a:xfrm>
              <a:off x="5577423" y="3849189"/>
              <a:ext cx="690733" cy="927213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0A783CF-E780-E34D-80C1-259DB9839A5B}"/>
                </a:ext>
              </a:extLst>
            </p:cNvPr>
            <p:cNvSpPr txBox="1"/>
            <p:nvPr/>
          </p:nvSpPr>
          <p:spPr>
            <a:xfrm>
              <a:off x="5287776" y="3757789"/>
              <a:ext cx="1124202" cy="62324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dirty="0"/>
                <a:t>Single </a:t>
              </a:r>
              <a:r>
                <a:rPr lang="es-ES" sz="2400" dirty="0" err="1"/>
                <a:t>state</a:t>
              </a:r>
              <a:endParaRPr lang="es-ES" sz="2400" dirty="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2139EA4-B060-6848-AAF2-C40952C0E321}"/>
              </a:ext>
            </a:extLst>
          </p:cNvPr>
          <p:cNvGrpSpPr/>
          <p:nvPr/>
        </p:nvGrpSpPr>
        <p:grpSpPr>
          <a:xfrm>
            <a:off x="7634177" y="3484957"/>
            <a:ext cx="3905017" cy="1555260"/>
            <a:chOff x="5890224" y="2613717"/>
            <a:chExt cx="2928763" cy="1166445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F04A5DC-52F7-A44E-9E6F-E5EBB7E9C554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 flipH="1">
              <a:off x="5890224" y="2838330"/>
              <a:ext cx="309890" cy="719054"/>
            </a:xfrm>
            <a:prstGeom prst="line">
              <a:avLst/>
            </a:prstGeom>
            <a:ln w="19050">
              <a:solidFill>
                <a:srgbClr val="7030A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86ADA5A-5EDD-EC46-8817-A830515CE228}"/>
                </a:ext>
              </a:extLst>
            </p:cNvPr>
            <p:cNvCxnSpPr>
              <a:cxnSpLocks/>
            </p:cNvCxnSpPr>
            <p:nvPr/>
          </p:nvCxnSpPr>
          <p:spPr>
            <a:xfrm>
              <a:off x="8641834" y="2758117"/>
              <a:ext cx="177153" cy="1022045"/>
            </a:xfrm>
            <a:prstGeom prst="line">
              <a:avLst/>
            </a:prstGeom>
            <a:ln w="19050">
              <a:solidFill>
                <a:srgbClr val="1B6937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7F3411F-360F-244C-BE00-EED764BB3616}"/>
                </a:ext>
              </a:extLst>
            </p:cNvPr>
            <p:cNvCxnSpPr>
              <a:cxnSpLocks/>
              <a:endCxn id="14" idx="0"/>
            </p:cNvCxnSpPr>
            <p:nvPr/>
          </p:nvCxnSpPr>
          <p:spPr>
            <a:xfrm flipH="1">
              <a:off x="7231808" y="2613717"/>
              <a:ext cx="88308" cy="1003107"/>
            </a:xfrm>
            <a:prstGeom prst="line">
              <a:avLst/>
            </a:prstGeom>
            <a:ln w="19050">
              <a:solidFill>
                <a:srgbClr val="4268E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50" name="Group 6149">
            <a:extLst>
              <a:ext uri="{FF2B5EF4-FFF2-40B4-BE49-F238E27FC236}">
                <a16:creationId xmlns:a16="http://schemas.microsoft.com/office/drawing/2014/main" id="{0C379B08-98A5-D044-836E-BFA6BB2234D8}"/>
              </a:ext>
            </a:extLst>
          </p:cNvPr>
          <p:cNvGrpSpPr/>
          <p:nvPr/>
        </p:nvGrpSpPr>
        <p:grpSpPr>
          <a:xfrm>
            <a:off x="8746994" y="1700809"/>
            <a:ext cx="3022351" cy="2282923"/>
            <a:chOff x="6724837" y="1275606"/>
            <a:chExt cx="2266763" cy="1712192"/>
          </a:xfrm>
        </p:grpSpPr>
        <p:sp>
          <p:nvSpPr>
            <p:cNvPr id="6145" name="Oval 6144">
              <a:extLst>
                <a:ext uri="{FF2B5EF4-FFF2-40B4-BE49-F238E27FC236}">
                  <a16:creationId xmlns:a16="http://schemas.microsoft.com/office/drawing/2014/main" id="{C98A8E21-4885-024A-93E4-6218C7BBB55B}"/>
                </a:ext>
              </a:extLst>
            </p:cNvPr>
            <p:cNvSpPr/>
            <p:nvPr/>
          </p:nvSpPr>
          <p:spPr>
            <a:xfrm>
              <a:off x="7473696" y="2535936"/>
              <a:ext cx="128016" cy="12801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40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F3D570C-9DCF-BA40-A7A8-B86CB576B0B4}"/>
                </a:ext>
              </a:extLst>
            </p:cNvPr>
            <p:cNvSpPr/>
            <p:nvPr/>
          </p:nvSpPr>
          <p:spPr>
            <a:xfrm>
              <a:off x="7473696" y="1275606"/>
              <a:ext cx="128016" cy="128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40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5B7AF3CD-E687-7C44-ADD0-6AC7336130C8}"/>
                </a:ext>
              </a:extLst>
            </p:cNvPr>
            <p:cNvSpPr/>
            <p:nvPr/>
          </p:nvSpPr>
          <p:spPr>
            <a:xfrm>
              <a:off x="7473696" y="2859782"/>
              <a:ext cx="128016" cy="128016"/>
            </a:xfrm>
            <a:prstGeom prst="ellipse">
              <a:avLst/>
            </a:prstGeom>
            <a:solidFill>
              <a:srgbClr val="139A9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400"/>
            </a:p>
          </p:txBody>
        </p:sp>
        <p:sp>
          <p:nvSpPr>
            <p:cNvPr id="6147" name="Arc 6146">
              <a:extLst>
                <a:ext uri="{FF2B5EF4-FFF2-40B4-BE49-F238E27FC236}">
                  <a16:creationId xmlns:a16="http://schemas.microsoft.com/office/drawing/2014/main" id="{2B8C2CA9-2109-D64E-8602-6338669BA9ED}"/>
                </a:ext>
              </a:extLst>
            </p:cNvPr>
            <p:cNvSpPr/>
            <p:nvPr/>
          </p:nvSpPr>
          <p:spPr>
            <a:xfrm rot="2928311">
              <a:off x="6739975" y="1366297"/>
              <a:ext cx="1243441" cy="1273718"/>
            </a:xfrm>
            <a:prstGeom prst="arc">
              <a:avLst>
                <a:gd name="adj1" fmla="val 14918194"/>
                <a:gd name="adj2" fmla="val 856213"/>
              </a:avLst>
            </a:prstGeom>
            <a:ln w="38100">
              <a:solidFill>
                <a:schemeClr val="accent4">
                  <a:lumMod val="75000"/>
                </a:schemeClr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sz="2400"/>
            </a:p>
          </p:txBody>
        </p:sp>
        <p:sp>
          <p:nvSpPr>
            <p:cNvPr id="6149" name="TextBox 6148">
              <a:extLst>
                <a:ext uri="{FF2B5EF4-FFF2-40B4-BE49-F238E27FC236}">
                  <a16:creationId xmlns:a16="http://schemas.microsoft.com/office/drawing/2014/main" id="{C051329C-306E-034E-B495-F409FEA3FABE}"/>
                </a:ext>
              </a:extLst>
            </p:cNvPr>
            <p:cNvSpPr txBox="1"/>
            <p:nvPr/>
          </p:nvSpPr>
          <p:spPr>
            <a:xfrm>
              <a:off x="7914243" y="1759148"/>
              <a:ext cx="1077357" cy="623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dirty="0" err="1"/>
                <a:t>Right</a:t>
              </a:r>
              <a:r>
                <a:rPr lang="es-ES" sz="2400" dirty="0"/>
                <a:t> </a:t>
              </a:r>
              <a:r>
                <a:rPr lang="es-ES" sz="2400" dirty="0" err="1"/>
                <a:t>stim</a:t>
              </a:r>
              <a:r>
                <a:rPr lang="es-ES" sz="2400" dirty="0"/>
                <a:t>.</a:t>
              </a:r>
            </a:p>
          </p:txBody>
        </p:sp>
        <p:sp>
          <p:nvSpPr>
            <p:cNvPr id="72" name="Arc 71">
              <a:extLst>
                <a:ext uri="{FF2B5EF4-FFF2-40B4-BE49-F238E27FC236}">
                  <a16:creationId xmlns:a16="http://schemas.microsoft.com/office/drawing/2014/main" id="{CCFCA9CD-A5AF-2E4F-9931-DC265076697E}"/>
                </a:ext>
              </a:extLst>
            </p:cNvPr>
            <p:cNvSpPr/>
            <p:nvPr/>
          </p:nvSpPr>
          <p:spPr>
            <a:xfrm rot="10603054" flipH="1">
              <a:off x="7430519" y="2589644"/>
              <a:ext cx="511250" cy="338200"/>
            </a:xfrm>
            <a:prstGeom prst="arc">
              <a:avLst>
                <a:gd name="adj1" fmla="val 14757666"/>
                <a:gd name="adj2" fmla="val 6009741"/>
              </a:avLst>
            </a:prstGeom>
            <a:ln w="38100">
              <a:solidFill>
                <a:srgbClr val="139A9B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sz="240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EF2C172-F6CF-3043-BDE9-B172B8F3411A}"/>
                </a:ext>
              </a:extLst>
            </p:cNvPr>
            <p:cNvSpPr txBox="1"/>
            <p:nvPr/>
          </p:nvSpPr>
          <p:spPr>
            <a:xfrm>
              <a:off x="7884368" y="2571750"/>
              <a:ext cx="1077357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dirty="0" err="1"/>
                <a:t>Left</a:t>
              </a:r>
              <a:r>
                <a:rPr lang="es-ES" sz="2400" dirty="0"/>
                <a:t> </a:t>
              </a:r>
              <a:r>
                <a:rPr lang="es-ES" sz="2400" dirty="0" err="1"/>
                <a:t>stim</a:t>
              </a:r>
              <a:r>
                <a:rPr lang="es-ES" sz="2400" dirty="0"/>
                <a:t>.</a:t>
              </a:r>
            </a:p>
          </p:txBody>
        </p:sp>
      </p:grpSp>
      <p:grpSp>
        <p:nvGrpSpPr>
          <p:cNvPr id="6160" name="Group 6159">
            <a:extLst>
              <a:ext uri="{FF2B5EF4-FFF2-40B4-BE49-F238E27FC236}">
                <a16:creationId xmlns:a16="http://schemas.microsoft.com/office/drawing/2014/main" id="{FB785E5D-052F-8443-90C4-427A56A618D5}"/>
              </a:ext>
            </a:extLst>
          </p:cNvPr>
          <p:cNvGrpSpPr/>
          <p:nvPr/>
        </p:nvGrpSpPr>
        <p:grpSpPr>
          <a:xfrm>
            <a:off x="6930888" y="5966824"/>
            <a:ext cx="1372277" cy="603130"/>
            <a:chOff x="5198166" y="4475121"/>
            <a:chExt cx="1029208" cy="452348"/>
          </a:xfrm>
        </p:grpSpPr>
        <p:cxnSp>
          <p:nvCxnSpPr>
            <p:cNvPr id="6154" name="Straight Arrow Connector 6153">
              <a:extLst>
                <a:ext uri="{FF2B5EF4-FFF2-40B4-BE49-F238E27FC236}">
                  <a16:creationId xmlns:a16="http://schemas.microsoft.com/office/drawing/2014/main" id="{A0609CB2-CE4A-454B-987F-533902861EB7}"/>
                </a:ext>
              </a:extLst>
            </p:cNvPr>
            <p:cNvCxnSpPr/>
            <p:nvPr/>
          </p:nvCxnSpPr>
          <p:spPr>
            <a:xfrm>
              <a:off x="5198166" y="4512365"/>
              <a:ext cx="1003852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DA752C85-A094-464B-9CE5-1D9055CF9D90}"/>
                    </a:ext>
                  </a:extLst>
                </p:cNvPr>
                <p:cNvSpPr txBox="1"/>
                <p:nvPr/>
              </p:nvSpPr>
              <p:spPr>
                <a:xfrm>
                  <a:off x="5300846" y="4696636"/>
                  <a:ext cx="926528" cy="2308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AU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AU" sz="20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AU" sz="20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A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a14:m>
                  <a:endParaRPr lang="en-AU" sz="2000" dirty="0"/>
                </a:p>
              </p:txBody>
            </p:sp>
          </mc:Choice>
          <mc:Fallback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DA752C85-A094-464B-9CE5-1D9055CF9D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0846" y="4696636"/>
                  <a:ext cx="926528" cy="230833"/>
                </a:xfrm>
                <a:prstGeom prst="rect">
                  <a:avLst/>
                </a:prstGeom>
                <a:blipFill>
                  <a:blip r:embed="rId9"/>
                  <a:stretch>
                    <a:fillRect l="-5102" r="-2041" b="-12000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57" name="Straight Connector 6156">
              <a:extLst>
                <a:ext uri="{FF2B5EF4-FFF2-40B4-BE49-F238E27FC236}">
                  <a16:creationId xmlns:a16="http://schemas.microsoft.com/office/drawing/2014/main" id="{80ABD464-E122-1D40-BC77-BC82F62C84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97204" y="4475121"/>
              <a:ext cx="1" cy="9022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59" name="TextBox 6158">
              <a:extLst>
                <a:ext uri="{FF2B5EF4-FFF2-40B4-BE49-F238E27FC236}">
                  <a16:creationId xmlns:a16="http://schemas.microsoft.com/office/drawing/2014/main" id="{F0404040-4434-744B-9109-9362EC4B53C1}"/>
                </a:ext>
              </a:extLst>
            </p:cNvPr>
            <p:cNvSpPr txBox="1"/>
            <p:nvPr/>
          </p:nvSpPr>
          <p:spPr>
            <a:xfrm>
              <a:off x="5636126" y="4513178"/>
              <a:ext cx="128337" cy="2385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467" dirty="0"/>
                <a:t>0</a:t>
              </a:r>
            </a:p>
          </p:txBody>
        </p:sp>
      </p:grpSp>
      <p:sp>
        <p:nvSpPr>
          <p:cNvPr id="6161" name="Down Arrow 6160">
            <a:extLst>
              <a:ext uri="{FF2B5EF4-FFF2-40B4-BE49-F238E27FC236}">
                <a16:creationId xmlns:a16="http://schemas.microsoft.com/office/drawing/2014/main" id="{C598D439-0778-D44F-A104-F97A6257CEDF}"/>
              </a:ext>
            </a:extLst>
          </p:cNvPr>
          <p:cNvSpPr/>
          <p:nvPr/>
        </p:nvSpPr>
        <p:spPr>
          <a:xfrm>
            <a:off x="4340887" y="3621618"/>
            <a:ext cx="401935" cy="455525"/>
          </a:xfrm>
          <a:prstGeom prst="down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400"/>
          </a:p>
        </p:txBody>
      </p:sp>
    </p:spTree>
    <p:extLst>
      <p:ext uri="{BB962C8B-B14F-4D97-AF65-F5344CB8AC3E}">
        <p14:creationId xmlns:p14="http://schemas.microsoft.com/office/powerpoint/2010/main" val="602984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428852" y="126461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>
              <a:spcBef>
                <a:spcPts val="0"/>
              </a:spcBef>
              <a:buSzPts val="990"/>
            </a:pPr>
            <a:r>
              <a:rPr lang="es-ES" sz="3333" dirty="0"/>
              <a:t>Short-</a:t>
            </a:r>
            <a:r>
              <a:rPr lang="es-ES" sz="3333" dirty="0" err="1"/>
              <a:t>term</a:t>
            </a:r>
            <a:r>
              <a:rPr lang="es-ES" sz="3333" dirty="0"/>
              <a:t> </a:t>
            </a:r>
            <a:r>
              <a:rPr lang="es-ES" sz="3333" dirty="0" err="1"/>
              <a:t>Memory</a:t>
            </a:r>
            <a:r>
              <a:rPr lang="en" sz="3333" dirty="0"/>
              <a:t> in rodents: a delayed-response 2AFC</a:t>
            </a:r>
            <a:endParaRPr sz="3333" dirty="0"/>
          </a:p>
        </p:txBody>
      </p:sp>
      <p:sp>
        <p:nvSpPr>
          <p:cNvPr id="108" name="Google Shape;108;p17"/>
          <p:cNvSpPr txBox="1"/>
          <p:nvPr/>
        </p:nvSpPr>
        <p:spPr>
          <a:xfrm>
            <a:off x="106341" y="6398536"/>
            <a:ext cx="3737115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Inagaki et al. </a:t>
            </a:r>
            <a:r>
              <a:rPr lang="en" sz="24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Nature</a:t>
            </a:r>
            <a:r>
              <a:rPr lang="en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2019</a:t>
            </a:r>
            <a:endParaRPr sz="24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36457B9-42B0-3541-94DA-C2B3CC5ABA50}"/>
              </a:ext>
            </a:extLst>
          </p:cNvPr>
          <p:cNvGrpSpPr/>
          <p:nvPr/>
        </p:nvGrpSpPr>
        <p:grpSpPr>
          <a:xfrm>
            <a:off x="7232370" y="1492045"/>
            <a:ext cx="4959630" cy="5582985"/>
            <a:chOff x="5424277" y="1119033"/>
            <a:chExt cx="3719723" cy="418723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5A52203-0E40-A344-91D3-4810557807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52460"/>
            <a:stretch/>
          </p:blipFill>
          <p:spPr>
            <a:xfrm>
              <a:off x="5972386" y="1341445"/>
              <a:ext cx="3171614" cy="2023640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4536A02-ADF0-8849-8E0D-9858CC88835E}"/>
                </a:ext>
              </a:extLst>
            </p:cNvPr>
            <p:cNvSpPr/>
            <p:nvPr/>
          </p:nvSpPr>
          <p:spPr>
            <a:xfrm>
              <a:off x="6774805" y="1386543"/>
              <a:ext cx="2185416" cy="1950933"/>
            </a:xfrm>
            <a:prstGeom prst="rect">
              <a:avLst/>
            </a:prstGeom>
            <a:solidFill>
              <a:srgbClr val="92D050">
                <a:alpha val="3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24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DDB1792-7D9E-E641-B84A-60DFEAF14E65}"/>
                </a:ext>
              </a:extLst>
            </p:cNvPr>
            <p:cNvSpPr/>
            <p:nvPr/>
          </p:nvSpPr>
          <p:spPr>
            <a:xfrm>
              <a:off x="5987661" y="1386544"/>
              <a:ext cx="759712" cy="1950934"/>
            </a:xfrm>
            <a:prstGeom prst="rect">
              <a:avLst/>
            </a:prstGeom>
            <a:solidFill>
              <a:srgbClr val="774E95">
                <a:alpha val="2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2400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1D34560-8630-F746-9837-6FB85D4D19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74975" b="15870"/>
            <a:stretch/>
          </p:blipFill>
          <p:spPr>
            <a:xfrm>
              <a:off x="5920693" y="3848828"/>
              <a:ext cx="862842" cy="83664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F663360-082F-904B-B0F6-D7BDFEDE22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8102" r="35928"/>
            <a:stretch/>
          </p:blipFill>
          <p:spPr>
            <a:xfrm>
              <a:off x="7564557" y="3813197"/>
              <a:ext cx="1240215" cy="773745"/>
            </a:xfrm>
            <a:prstGeom prst="rect">
              <a:avLst/>
            </a:prstGeom>
          </p:spPr>
        </p:pic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463D029-0BF2-C943-B4E4-7FDB6067E7DB}"/>
                </a:ext>
              </a:extLst>
            </p:cNvPr>
            <p:cNvSpPr/>
            <p:nvPr/>
          </p:nvSpPr>
          <p:spPr>
            <a:xfrm>
              <a:off x="7537057" y="5184474"/>
              <a:ext cx="121798" cy="121798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2400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A8C8AFF-3B73-2042-B5B3-70EC30F07220}"/>
                </a:ext>
              </a:extLst>
            </p:cNvPr>
            <p:cNvCxnSpPr>
              <a:cxnSpLocks/>
            </p:cNvCxnSpPr>
            <p:nvPr/>
          </p:nvCxnSpPr>
          <p:spPr>
            <a:xfrm>
              <a:off x="6836533" y="4219366"/>
              <a:ext cx="651504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C4D0A2E-41FE-B549-A850-949DC4611BC0}"/>
                </a:ext>
              </a:extLst>
            </p:cNvPr>
            <p:cNvSpPr txBox="1"/>
            <p:nvPr/>
          </p:nvSpPr>
          <p:spPr>
            <a:xfrm>
              <a:off x="6532501" y="4316290"/>
              <a:ext cx="1248602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400" dirty="0"/>
                <a:t>Input </a:t>
              </a:r>
              <a:r>
                <a:rPr lang="en-AU" sz="2400" i="1" dirty="0" err="1"/>
                <a:t>I</a:t>
              </a:r>
              <a:r>
                <a:rPr lang="en-AU" sz="2400" i="1" baseline="-25000" dirty="0" err="1"/>
                <a:t>ext</a:t>
              </a:r>
              <a:endParaRPr lang="en-AU" sz="2400" i="1" baseline="-250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0265C5C-8011-4C4D-89C3-F5F4F5C9A346}"/>
                </a:ext>
              </a:extLst>
            </p:cNvPr>
            <p:cNvSpPr txBox="1"/>
            <p:nvPr/>
          </p:nvSpPr>
          <p:spPr>
            <a:xfrm rot="16200000">
              <a:off x="4849279" y="2110511"/>
              <a:ext cx="1742417" cy="5924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400" dirty="0"/>
                <a:t>Population Rate  </a:t>
              </a:r>
              <a:r>
                <a:rPr lang="en-AU" sz="2133" i="1" dirty="0" err="1"/>
                <a:t>r</a:t>
              </a:r>
              <a:r>
                <a:rPr lang="en-AU" sz="2133" i="1" baseline="-25000" dirty="0" err="1"/>
                <a:t>R</a:t>
              </a:r>
              <a:endParaRPr lang="en-AU" sz="2133" i="1" baseline="-250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7B9378C-30D9-A047-A640-4394A51FD274}"/>
                </a:ext>
              </a:extLst>
            </p:cNvPr>
            <p:cNvSpPr txBox="1"/>
            <p:nvPr/>
          </p:nvSpPr>
          <p:spPr>
            <a:xfrm>
              <a:off x="6278496" y="3468255"/>
              <a:ext cx="2569047" cy="623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400" dirty="0"/>
                <a:t>Unspecific excitatory input </a:t>
              </a:r>
              <a:r>
                <a:rPr lang="en-AU" sz="2400" i="1" dirty="0" err="1"/>
                <a:t>I</a:t>
              </a:r>
              <a:r>
                <a:rPr lang="en-AU" sz="2400" i="1" baseline="-25000" dirty="0" err="1"/>
                <a:t>ext</a:t>
              </a:r>
              <a:endParaRPr lang="en-AU" sz="24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F25B696-861B-CA4A-957D-670D0C7EAF55}"/>
                </a:ext>
              </a:extLst>
            </p:cNvPr>
            <p:cNvSpPr txBox="1"/>
            <p:nvPr/>
          </p:nvSpPr>
          <p:spPr>
            <a:xfrm>
              <a:off x="7212009" y="1119033"/>
              <a:ext cx="1411706" cy="623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400" dirty="0" err="1">
                  <a:solidFill>
                    <a:srgbClr val="427D41"/>
                  </a:solidFill>
                </a:rPr>
                <a:t>winner-take-all</a:t>
              </a:r>
              <a:endParaRPr lang="es-ES" sz="2400" dirty="0">
                <a:solidFill>
                  <a:srgbClr val="427D41"/>
                </a:solidFill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9F9EB1E-A9DA-5042-8F24-3223F7E7846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6710" t="53402" r="32949" b="9339"/>
          <a:stretch/>
        </p:blipFill>
        <p:spPr>
          <a:xfrm>
            <a:off x="1007164" y="1043267"/>
            <a:ext cx="2637184" cy="236254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E315415-0395-3B4B-BBB8-A282765ED2A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0519" t="53402" b="2869"/>
          <a:stretch/>
        </p:blipFill>
        <p:spPr>
          <a:xfrm>
            <a:off x="1007165" y="3511759"/>
            <a:ext cx="2544417" cy="27532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B16B0B-95C4-7B4B-A643-DB832AA149CD}"/>
              </a:ext>
            </a:extLst>
          </p:cNvPr>
          <p:cNvSpPr txBox="1"/>
          <p:nvPr/>
        </p:nvSpPr>
        <p:spPr>
          <a:xfrm rot="16200000">
            <a:off x="-728869" y="2903084"/>
            <a:ext cx="2915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err="1"/>
              <a:t>Population</a:t>
            </a:r>
            <a:r>
              <a:rPr lang="es-ES" sz="2400" dirty="0"/>
              <a:t> </a:t>
            </a:r>
            <a:r>
              <a:rPr lang="es-ES" sz="2400" dirty="0" err="1"/>
              <a:t>activity</a:t>
            </a:r>
            <a:endParaRPr lang="es-ES" sz="24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925058B-1B7E-6A4F-9D5D-DB97A18B4B5F}"/>
              </a:ext>
            </a:extLst>
          </p:cNvPr>
          <p:cNvGrpSpPr/>
          <p:nvPr/>
        </p:nvGrpSpPr>
        <p:grpSpPr>
          <a:xfrm>
            <a:off x="8610417" y="2540995"/>
            <a:ext cx="1759152" cy="1551403"/>
            <a:chOff x="6457813" y="1905746"/>
            <a:chExt cx="1319364" cy="1163552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DED8E23-1ADB-D54B-84B5-D3802C056306}"/>
                </a:ext>
              </a:extLst>
            </p:cNvPr>
            <p:cNvSpPr/>
            <p:nvPr/>
          </p:nvSpPr>
          <p:spPr>
            <a:xfrm>
              <a:off x="6457813" y="2599148"/>
              <a:ext cx="128016" cy="12801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40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344F230-6EC8-B444-8E4A-A695636B66A9}"/>
                </a:ext>
              </a:extLst>
            </p:cNvPr>
            <p:cNvSpPr/>
            <p:nvPr/>
          </p:nvSpPr>
          <p:spPr>
            <a:xfrm>
              <a:off x="7308205" y="1905746"/>
              <a:ext cx="128016" cy="128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40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450EE47-115D-1D44-9319-A291FA8D214E}"/>
                </a:ext>
              </a:extLst>
            </p:cNvPr>
            <p:cNvSpPr/>
            <p:nvPr/>
          </p:nvSpPr>
          <p:spPr>
            <a:xfrm>
              <a:off x="7335637" y="2941282"/>
              <a:ext cx="128016" cy="128016"/>
            </a:xfrm>
            <a:prstGeom prst="ellipse">
              <a:avLst/>
            </a:prstGeom>
            <a:solidFill>
              <a:srgbClr val="139A9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400"/>
            </a:p>
          </p:txBody>
        </p:sp>
        <p:sp>
          <p:nvSpPr>
            <p:cNvPr id="41" name="Arc 40">
              <a:extLst>
                <a:ext uri="{FF2B5EF4-FFF2-40B4-BE49-F238E27FC236}">
                  <a16:creationId xmlns:a16="http://schemas.microsoft.com/office/drawing/2014/main" id="{06353FE5-69D7-2140-9303-A3E7CF171DB8}"/>
                </a:ext>
              </a:extLst>
            </p:cNvPr>
            <p:cNvSpPr/>
            <p:nvPr/>
          </p:nvSpPr>
          <p:spPr>
            <a:xfrm rot="4622513">
              <a:off x="7160736" y="2006194"/>
              <a:ext cx="560122" cy="521474"/>
            </a:xfrm>
            <a:prstGeom prst="arc">
              <a:avLst>
                <a:gd name="adj1" fmla="val 11605609"/>
                <a:gd name="adj2" fmla="val 856213"/>
              </a:avLst>
            </a:prstGeom>
            <a:ln w="38100">
              <a:solidFill>
                <a:schemeClr val="accent4">
                  <a:lumMod val="75000"/>
                </a:schemeClr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sz="2400"/>
            </a:p>
          </p:txBody>
        </p:sp>
        <p:sp>
          <p:nvSpPr>
            <p:cNvPr id="42" name="Arc 41">
              <a:extLst>
                <a:ext uri="{FF2B5EF4-FFF2-40B4-BE49-F238E27FC236}">
                  <a16:creationId xmlns:a16="http://schemas.microsoft.com/office/drawing/2014/main" id="{B2DCB1FF-6D5B-6F48-8B92-EF3057F42687}"/>
                </a:ext>
              </a:extLst>
            </p:cNvPr>
            <p:cNvSpPr/>
            <p:nvPr/>
          </p:nvSpPr>
          <p:spPr>
            <a:xfrm rot="10603054" flipH="1">
              <a:off x="7265927" y="2589644"/>
              <a:ext cx="511250" cy="338200"/>
            </a:xfrm>
            <a:prstGeom prst="arc">
              <a:avLst>
                <a:gd name="adj1" fmla="val 14757666"/>
                <a:gd name="adj2" fmla="val 6009741"/>
              </a:avLst>
            </a:prstGeom>
            <a:ln w="38100">
              <a:solidFill>
                <a:srgbClr val="139A9B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sz="240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8F54E4-91E1-8341-A8F1-D0A0C38F6F6F}"/>
                </a:ext>
              </a:extLst>
            </p:cNvPr>
            <p:cNvSpPr/>
            <p:nvPr/>
          </p:nvSpPr>
          <p:spPr>
            <a:xfrm>
              <a:off x="7270416" y="2533862"/>
              <a:ext cx="128016" cy="12801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400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14B0978B-FCB1-D041-9063-1B472B7750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591" y="2621552"/>
              <a:ext cx="512197" cy="3762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95C1D11-C4E4-494D-BAE8-FEAAF991C455}"/>
              </a:ext>
            </a:extLst>
          </p:cNvPr>
          <p:cNvGrpSpPr/>
          <p:nvPr/>
        </p:nvGrpSpPr>
        <p:grpSpPr>
          <a:xfrm>
            <a:off x="4369727" y="1513843"/>
            <a:ext cx="2354988" cy="5100692"/>
            <a:chOff x="3277295" y="1135382"/>
            <a:chExt cx="1766241" cy="3825519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36B6477-CB6B-CD40-AF2A-19B97AF4B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77295" y="1135382"/>
              <a:ext cx="1766241" cy="1425761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3CC84AA-BEA6-B24A-90D2-9E56C18F056B}"/>
                </a:ext>
              </a:extLst>
            </p:cNvPr>
            <p:cNvCxnSpPr/>
            <p:nvPr/>
          </p:nvCxnSpPr>
          <p:spPr>
            <a:xfrm flipV="1">
              <a:off x="3809388" y="2518388"/>
              <a:ext cx="0" cy="66430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D1116BB-DDBA-D54A-963C-2132E9060F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3028" y="2518388"/>
              <a:ext cx="0" cy="66430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821FC3C-D121-0A49-A865-CAFCD23FE646}"/>
                </a:ext>
              </a:extLst>
            </p:cNvPr>
            <p:cNvCxnSpPr>
              <a:cxnSpLocks/>
            </p:cNvCxnSpPr>
            <p:nvPr/>
          </p:nvCxnSpPr>
          <p:spPr>
            <a:xfrm>
              <a:off x="3792483" y="3168014"/>
              <a:ext cx="737235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18089FD-6EC1-B142-A62D-E54C7B363AAA}"/>
                </a:ext>
              </a:extLst>
            </p:cNvPr>
            <p:cNvCxnSpPr>
              <a:cxnSpLocks/>
            </p:cNvCxnSpPr>
            <p:nvPr/>
          </p:nvCxnSpPr>
          <p:spPr>
            <a:xfrm>
              <a:off x="4145826" y="3148275"/>
              <a:ext cx="0" cy="269629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5412474-3A60-3C44-8CCB-96BC367556A8}"/>
                </a:ext>
              </a:extLst>
            </p:cNvPr>
            <p:cNvSpPr txBox="1"/>
            <p:nvPr/>
          </p:nvSpPr>
          <p:spPr>
            <a:xfrm>
              <a:off x="3601642" y="3456708"/>
              <a:ext cx="1248602" cy="623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400" dirty="0"/>
                <a:t>Exc. Input </a:t>
              </a:r>
              <a:r>
                <a:rPr lang="en-AU" sz="2400" i="1" dirty="0" err="1"/>
                <a:t>I</a:t>
              </a:r>
              <a:r>
                <a:rPr lang="en-AU" sz="2400" i="1" baseline="-25000" dirty="0" err="1"/>
                <a:t>ext</a:t>
              </a:r>
              <a:endParaRPr lang="en-AU" sz="2400" i="1" baseline="-25000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E6C3BD4-56B6-674F-9705-4401A2CE4A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9210" y="2508787"/>
              <a:ext cx="0" cy="470315"/>
            </a:xfrm>
            <a:prstGeom prst="straightConnector1">
              <a:avLst/>
            </a:prstGeom>
            <a:ln w="57150">
              <a:solidFill>
                <a:srgbClr val="F68D4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D95313A-389D-FE4D-94E7-B13981DE5E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9090" y="2508787"/>
              <a:ext cx="0" cy="470315"/>
            </a:xfrm>
            <a:prstGeom prst="straightConnector1">
              <a:avLst/>
            </a:prstGeom>
            <a:ln w="57150">
              <a:solidFill>
                <a:srgbClr val="139A9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5503245-67FC-8741-AEE2-27F177F7C68C}"/>
                </a:ext>
              </a:extLst>
            </p:cNvPr>
            <p:cNvSpPr/>
            <p:nvPr/>
          </p:nvSpPr>
          <p:spPr>
            <a:xfrm>
              <a:off x="4554753" y="2942617"/>
              <a:ext cx="280365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AU" sz="2400" i="1"/>
                <a:t>I</a:t>
              </a:r>
              <a:r>
                <a:rPr lang="en-AU" sz="2400" i="1" baseline="-25000"/>
                <a:t>R</a:t>
              </a:r>
              <a:endParaRPr lang="en-AU" sz="24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0CAB2FA-74C5-D448-8DE1-38363B12455E}"/>
                </a:ext>
              </a:extLst>
            </p:cNvPr>
            <p:cNvSpPr/>
            <p:nvPr/>
          </p:nvSpPr>
          <p:spPr>
            <a:xfrm>
              <a:off x="3458408" y="2942617"/>
              <a:ext cx="261129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AU" sz="2400" i="1"/>
                <a:t>I</a:t>
              </a:r>
              <a:r>
                <a:rPr lang="en-AU" sz="2400" i="1" baseline="-25000"/>
                <a:t>L</a:t>
              </a:r>
              <a:endParaRPr lang="en-AU" sz="240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42B6473-892E-FB4A-9967-28F1398DDA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b="44575"/>
            <a:stretch/>
          </p:blipFill>
          <p:spPr>
            <a:xfrm>
              <a:off x="3559394" y="3837371"/>
              <a:ext cx="1342806" cy="671130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D923C4B8-EAFB-F041-9510-E5C6AC0243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54248"/>
            <a:stretch/>
          </p:blipFill>
          <p:spPr>
            <a:xfrm>
              <a:off x="3551188" y="4406900"/>
              <a:ext cx="1342806" cy="5540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7957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</Words>
  <Application>Microsoft Macintosh PowerPoint</Application>
  <PresentationFormat>Widescreen</PresentationFormat>
  <Paragraphs>25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Short-term Memory in rodents: a delayed-response 2AFC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 LA ROCHA, JAIME(IDIBAPS)</dc:creator>
  <cp:lastModifiedBy>DE LA ROCHA, JAIME(IDIBAPS)</cp:lastModifiedBy>
  <cp:revision>1</cp:revision>
  <dcterms:created xsi:type="dcterms:W3CDTF">2025-06-05T13:46:29Z</dcterms:created>
  <dcterms:modified xsi:type="dcterms:W3CDTF">2025-06-05T13:46:49Z</dcterms:modified>
</cp:coreProperties>
</file>