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353" r:id="rId2"/>
    <p:sldId id="262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3"/>
    <p:restoredTop sz="97020"/>
  </p:normalViewPr>
  <p:slideViewPr>
    <p:cSldViewPr snapToGrid="0" snapToObjects="1" showGuides="1">
      <p:cViewPr varScale="1">
        <p:scale>
          <a:sx n="147" d="100"/>
          <a:sy n="147" d="100"/>
        </p:scale>
        <p:origin x="216" y="3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51B712-1616-4541-8D5E-82699FE97B94}" type="datetimeFigureOut">
              <a:rPr lang="es-ES" smtClean="0"/>
              <a:t>13/6/25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7CC88-E1E4-E146-A1ED-F98E138AB7B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3240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78D8969-99AA-7942-B5F6-E6E252D8E6F3}" type="slidenum">
              <a:rPr lang="en-US"/>
              <a:pPr/>
              <a:t>2</a:t>
            </a:fld>
            <a:endParaRPr lang="en-US"/>
          </a:p>
        </p:txBody>
      </p:sp>
      <p:sp>
        <p:nvSpPr>
          <p:cNvPr id="28673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5325"/>
            <a:ext cx="4570413" cy="342741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4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512" y="4343230"/>
            <a:ext cx="5486976" cy="4115139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968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6276B-121E-1A40-90C8-359EA6BED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EDA8B5-2EAB-E44D-BABD-27914BD591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863BA-987F-8A43-ADE8-22D2754C9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79FF-93B1-4F4D-B0E1-956E04B0DF56}" type="datetimeFigureOut">
              <a:rPr lang="es-ES" smtClean="0"/>
              <a:t>12/6/25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BF8C4-878F-8A46-996F-7450826C5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DDBBE-C997-B344-BE90-58FDD0F93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0EB-4EEE-9C4B-AA23-85A700C6D8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9545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16C44-EE42-BF4D-8423-F8C54BE9A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F2904-999E-A04F-9BAE-D299CAEA5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9AB87-FB94-6B4F-A48D-A9A7FA497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79FF-93B1-4F4D-B0E1-956E04B0DF56}" type="datetimeFigureOut">
              <a:rPr lang="es-ES" smtClean="0"/>
              <a:t>12/6/25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51B62-D81A-514F-97F0-7C4836A37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F12C1-21B8-8E42-A0C1-BA9C37BE6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0EB-4EEE-9C4B-AA23-85A700C6D8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1267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F1959-5A3B-1243-8AD0-8CA147988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F72B7-10D8-3F40-985B-6D5C6E3BC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1BF99-31BD-B140-9242-8DAC6EAD2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79FF-93B1-4F4D-B0E1-956E04B0DF56}" type="datetimeFigureOut">
              <a:rPr lang="es-ES" smtClean="0"/>
              <a:t>12/6/25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460B9-375C-9642-BB52-47D1C0B7A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EACC2-D937-094E-B096-6E53E266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0EB-4EEE-9C4B-AA23-85A700C6D8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338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36D33-AB27-7849-AA4A-10D28DDFB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01318-4141-DA44-A1A1-00641D8778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4D1F7-92FF-1F4C-97D2-A20B79D94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0335E-6B30-984D-BB20-39AA8FDF8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79FF-93B1-4F4D-B0E1-956E04B0DF56}" type="datetimeFigureOut">
              <a:rPr lang="es-ES" smtClean="0"/>
              <a:t>12/6/25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53083-A27B-1A46-B3C2-AAF8D9D64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0C5FE5-E2D5-2D45-9167-833168D5A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0EB-4EEE-9C4B-AA23-85A700C6D8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2158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1EBE4-0F3F-E94F-BD87-75ABB178D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2A6BD-A0B3-5642-8BB6-629B1EBCF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46957A-197A-A246-B4A6-A65CA71CFA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F7FEB7-6AC7-0D49-87AD-4E15953D82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6084E3-1617-7D47-AF91-C5475C786F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556F56-5FF1-344F-B12E-1B8524C6E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79FF-93B1-4F4D-B0E1-956E04B0DF56}" type="datetimeFigureOut">
              <a:rPr lang="es-ES" smtClean="0"/>
              <a:t>12/6/25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7F73C8-F688-6C45-B8CA-839A66B44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71759A-69CD-D841-B636-FE8C4BD7C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0EB-4EEE-9C4B-AA23-85A700C6D8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2754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E5614-CDAC-D14D-80EF-E5944775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28059F-E59E-DA4D-B81D-49A2EDFC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79FF-93B1-4F4D-B0E1-956E04B0DF56}" type="datetimeFigureOut">
              <a:rPr lang="es-ES" smtClean="0"/>
              <a:t>12/6/25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AB8637-ECDC-8546-8D99-082B70725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884A5-6866-E342-AC01-F7CDBFA77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0EB-4EEE-9C4B-AA23-85A700C6D8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6690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376937-ACE8-E84D-996D-4746FE9A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79FF-93B1-4F4D-B0E1-956E04B0DF56}" type="datetimeFigureOut">
              <a:rPr lang="es-ES" smtClean="0"/>
              <a:t>12/6/25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708503-2C5B-FB48-B7F5-6E705D4E9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73B13-185E-E642-A5C6-B9C57BC93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0EB-4EEE-9C4B-AA23-85A700C6D8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3911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77F53-A278-D544-834C-2C8804DB5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6F7BC-6954-EB48-BC30-0F16962D6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9BBC2-512D-D24B-B791-2EEF54EECF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63ECE-C6A6-D143-9EDE-6B9500A0F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79FF-93B1-4F4D-B0E1-956E04B0DF56}" type="datetimeFigureOut">
              <a:rPr lang="es-ES" smtClean="0"/>
              <a:t>12/6/25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5C68B8-F741-C54B-BB29-49B02DD31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9465F-A824-924A-BFF3-EFDD2A382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0EB-4EEE-9C4B-AA23-85A700C6D8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3692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C0BB3-722A-424F-8F1B-0D0B0063A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0AA425-11C2-0E42-8488-9B6206721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3B599A-149B-8246-9E70-5A3578436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2EA01D-7859-EC46-8FA2-3DBEF53BA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79FF-93B1-4F4D-B0E1-956E04B0DF56}" type="datetimeFigureOut">
              <a:rPr lang="es-ES" smtClean="0"/>
              <a:t>12/6/25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F23BB-1EC8-ED4E-82F6-88D5A0160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0066AB-F507-7547-AFF8-1FA6BA1E4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0EB-4EEE-9C4B-AA23-85A700C6D8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982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51284-326D-3547-BECD-0978DDEDA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234A45-BD24-F446-9F21-E9D93D6AB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5BFA8-6E76-C645-9322-B8D9DBB11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79FF-93B1-4F4D-B0E1-956E04B0DF56}" type="datetimeFigureOut">
              <a:rPr lang="es-ES" smtClean="0"/>
              <a:t>12/6/25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44612-B418-2242-8C47-50BC3096C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418C7-32A2-474B-9459-2A60C0A4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0EB-4EEE-9C4B-AA23-85A700C6D8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8859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4A6174-CB37-F249-952B-C45B4E559D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F1801B-59C1-3947-A3C3-654C6F468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4B22B-6350-594F-A917-710571A15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179FF-93B1-4F4D-B0E1-956E04B0DF56}" type="datetimeFigureOut">
              <a:rPr lang="es-ES" smtClean="0"/>
              <a:t>12/6/25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C7FD8-2D89-B14C-A1BF-707D9377F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0F45C-FD03-4E4C-BF45-9801BA6CF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D70EB-4EEE-9C4B-AA23-85A700C6D8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4918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8C2DD4-F204-944D-918E-559F6EE0D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9A4615-79B8-C54F-A9E9-0F8D7FB8D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19EAE-6316-B74B-8BB0-AC1AE169DE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179FF-93B1-4F4D-B0E1-956E04B0DF56}" type="datetimeFigureOut">
              <a:rPr lang="es-ES" smtClean="0"/>
              <a:t>12/6/25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192A2-70F8-7142-AEB2-9D35574B2E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5DACC-F1B2-574A-B677-CBB9D1B30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8D70EB-4EEE-9C4B-AA23-85A700C6D8B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3908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1504" y="-165100"/>
            <a:ext cx="8928992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Evidence accumulation in cortical circuits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6282246" y="1442930"/>
            <a:ext cx="5639320" cy="5146125"/>
            <a:chOff x="4114316" y="1631666"/>
            <a:chExt cx="5639320" cy="5146125"/>
          </a:xfrm>
        </p:grpSpPr>
        <p:sp>
          <p:nvSpPr>
            <p:cNvPr id="4" name="TextBox 34"/>
            <p:cNvSpPr txBox="1">
              <a:spLocks noChangeArrowheads="1"/>
            </p:cNvSpPr>
            <p:nvPr/>
          </p:nvSpPr>
          <p:spPr bwMode="auto">
            <a:xfrm>
              <a:off x="6084168" y="6453336"/>
              <a:ext cx="295232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/>
              <a:r>
                <a:rPr lang="en-US" sz="1400" i="1" dirty="0" err="1">
                  <a:solidFill>
                    <a:schemeClr val="bg1">
                      <a:lumMod val="50000"/>
                    </a:schemeClr>
                  </a:solidFill>
                  <a:cs typeface="Arial" pitchFamily="34" charset="0"/>
                </a:rPr>
                <a:t>Roitman</a:t>
              </a:r>
              <a:r>
                <a:rPr lang="en-US" sz="1400" i="1" dirty="0">
                  <a:solidFill>
                    <a:schemeClr val="bg1">
                      <a:lumMod val="50000"/>
                    </a:schemeClr>
                  </a:solidFill>
                  <a:cs typeface="Arial" pitchFamily="34" charset="0"/>
                </a:rPr>
                <a:t> &amp; </a:t>
              </a:r>
              <a:r>
                <a:rPr lang="en-US" sz="1400" i="1" dirty="0" err="1">
                  <a:solidFill>
                    <a:schemeClr val="bg1">
                      <a:lumMod val="50000"/>
                    </a:schemeClr>
                  </a:solidFill>
                  <a:cs typeface="Arial" pitchFamily="34" charset="0"/>
                </a:rPr>
                <a:t>Shadlen</a:t>
              </a:r>
              <a:r>
                <a:rPr lang="en-US" sz="1400" i="1" dirty="0">
                  <a:solidFill>
                    <a:schemeClr val="bg1">
                      <a:lumMod val="50000"/>
                    </a:schemeClr>
                  </a:solidFill>
                  <a:cs typeface="Arial" pitchFamily="34" charset="0"/>
                </a:rPr>
                <a:t> et al 1996</a:t>
              </a: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4114316" y="1631666"/>
              <a:ext cx="5639320" cy="5146125"/>
              <a:chOff x="1125137" y="1711874"/>
              <a:chExt cx="5639320" cy="5146125"/>
            </a:xfrm>
          </p:grpSpPr>
          <p:grpSp>
            <p:nvGrpSpPr>
              <p:cNvPr id="9" name="Group 8"/>
              <p:cNvGrpSpPr/>
              <p:nvPr/>
            </p:nvGrpSpPr>
            <p:grpSpPr>
              <a:xfrm>
                <a:off x="1125137" y="1711874"/>
                <a:ext cx="4959031" cy="5146125"/>
                <a:chOff x="1099219" y="572770"/>
                <a:chExt cx="6056723" cy="6285230"/>
              </a:xfrm>
            </p:grpSpPr>
            <p:pic>
              <p:nvPicPr>
                <p:cNvPr id="3" name="Picture 2"/>
                <p:cNvPicPr>
                  <a:picLocks noChangeAspect="1"/>
                </p:cNvPicPr>
                <p:nvPr/>
              </p:nvPicPr>
              <p:blipFill>
                <a:blip r:embed="rId2"/>
                <a:srcRect r="13651"/>
                <a:stretch>
                  <a:fillRect/>
                </a:stretch>
              </p:blipFill>
              <p:spPr>
                <a:xfrm>
                  <a:off x="1099219" y="572770"/>
                  <a:ext cx="6056723" cy="6285230"/>
                </a:xfrm>
                <a:prstGeom prst="rect">
                  <a:avLst/>
                </a:prstGeom>
              </p:spPr>
            </p:pic>
            <p:sp>
              <p:nvSpPr>
                <p:cNvPr id="5" name="Rectangle 4"/>
                <p:cNvSpPr/>
                <p:nvPr/>
              </p:nvSpPr>
              <p:spPr>
                <a:xfrm>
                  <a:off x="2099313" y="5247974"/>
                  <a:ext cx="3239682" cy="85522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cxnSp>
              <p:nvCxnSpPr>
                <p:cNvPr id="7" name="Straight Connector 6"/>
                <p:cNvCxnSpPr/>
                <p:nvPr/>
              </p:nvCxnSpPr>
              <p:spPr>
                <a:xfrm rot="5400000">
                  <a:off x="-259024" y="3563439"/>
                  <a:ext cx="5079520" cy="1588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" name="Rectangle 7"/>
                <p:cNvSpPr/>
                <p:nvPr/>
              </p:nvSpPr>
              <p:spPr>
                <a:xfrm>
                  <a:off x="3382222" y="5040647"/>
                  <a:ext cx="511823" cy="298033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10" name="Rectangle 9"/>
              <p:cNvSpPr/>
              <p:nvPr/>
            </p:nvSpPr>
            <p:spPr>
              <a:xfrm>
                <a:off x="4821321" y="1715051"/>
                <a:ext cx="1943136" cy="481849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4285812" y="2855390"/>
                <a:ext cx="1558305" cy="374165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4" name="Group 23"/>
          <p:cNvGrpSpPr/>
          <p:nvPr/>
        </p:nvGrpSpPr>
        <p:grpSpPr>
          <a:xfrm>
            <a:off x="1962292" y="2380908"/>
            <a:ext cx="3210288" cy="4072428"/>
            <a:chOff x="243305" y="2072322"/>
            <a:chExt cx="3210288" cy="4072428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3305" y="3545005"/>
              <a:ext cx="3063240" cy="1988820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6800" y="2072322"/>
              <a:ext cx="1752600" cy="1470660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604248" y="5459558"/>
              <a:ext cx="28493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-1000	-500		   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83409" y="5775418"/>
              <a:ext cx="30632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Time from response (</a:t>
              </a:r>
              <a:r>
                <a:rPr lang="en-GB" dirty="0" err="1"/>
                <a:t>s</a:t>
              </a:r>
              <a:r>
                <a:rPr lang="en-GB" dirty="0"/>
                <a:t>)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560314" y="736145"/>
            <a:ext cx="1616076" cy="1336178"/>
            <a:chOff x="720724" y="3573835"/>
            <a:chExt cx="3127301" cy="2585665"/>
          </a:xfrm>
        </p:grpSpPr>
        <p:grpSp>
          <p:nvGrpSpPr>
            <p:cNvPr id="17" name="Group 56"/>
            <p:cNvGrpSpPr/>
            <p:nvPr/>
          </p:nvGrpSpPr>
          <p:grpSpPr>
            <a:xfrm>
              <a:off x="720724" y="4033430"/>
              <a:ext cx="3127301" cy="2126070"/>
              <a:chOff x="2965450" y="2336800"/>
              <a:chExt cx="3213100" cy="2184400"/>
            </a:xfrm>
          </p:grpSpPr>
          <p:pic>
            <p:nvPicPr>
              <p:cNvPr id="22" name="Picture 21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flipH="1">
                <a:off x="2965450" y="2336800"/>
                <a:ext cx="3213100" cy="2184400"/>
              </a:xfrm>
              <a:prstGeom prst="rect">
                <a:avLst/>
              </a:prstGeom>
            </p:spPr>
          </p:pic>
          <p:sp>
            <p:nvSpPr>
              <p:cNvPr id="23" name="Oval 22"/>
              <p:cNvSpPr/>
              <p:nvPr/>
            </p:nvSpPr>
            <p:spPr>
              <a:xfrm>
                <a:off x="4568825" y="4083050"/>
                <a:ext cx="257175" cy="23495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sp>
          <p:nvSpPr>
            <p:cNvPr id="19" name="Oval 18"/>
            <p:cNvSpPr/>
            <p:nvPr/>
          </p:nvSpPr>
          <p:spPr>
            <a:xfrm>
              <a:off x="1955800" y="4222750"/>
              <a:ext cx="299760" cy="207526"/>
            </a:xfrm>
            <a:prstGeom prst="ellipse">
              <a:avLst/>
            </a:prstGeom>
            <a:solidFill>
              <a:srgbClr val="E10000">
                <a:alpha val="79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146466" y="3573835"/>
              <a:ext cx="1574725" cy="8933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b="1" dirty="0">
                  <a:solidFill>
                    <a:srgbClr val="E10000"/>
                  </a:solidFill>
                </a:rPr>
                <a:t>LIP</a:t>
              </a:r>
            </a:p>
          </p:txBody>
        </p:sp>
      </p:grpSp>
      <p:cxnSp>
        <p:nvCxnSpPr>
          <p:cNvPr id="28" name="Straight Arrow Connector 27"/>
          <p:cNvCxnSpPr/>
          <p:nvPr/>
        </p:nvCxnSpPr>
        <p:spPr>
          <a:xfrm>
            <a:off x="2366755" y="4470400"/>
            <a:ext cx="419032" cy="3810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644205" y="4018692"/>
            <a:ext cx="864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/>
              <a:t>stim</a:t>
            </a:r>
            <a:r>
              <a:rPr lang="en-GB" dirty="0"/>
              <a:t>. onset</a:t>
            </a:r>
          </a:p>
        </p:txBody>
      </p:sp>
    </p:spTree>
    <p:extLst>
      <p:ext uri="{BB962C8B-B14F-4D97-AF65-F5344CB8AC3E}">
        <p14:creationId xmlns:p14="http://schemas.microsoft.com/office/powerpoint/2010/main" val="872827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1980481" y="103133"/>
            <a:ext cx="8228160" cy="1166522"/>
          </a:xfrm>
          <a:ln/>
        </p:spPr>
        <p:txBody>
          <a:bodyPr vert="horz" lIns="91440" tIns="35268" rIns="91440" bIns="45720" rtlCol="0" anchor="ctr">
            <a:normAutofit fontScale="90000"/>
          </a:bodyPr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dirty="0"/>
              <a:t>Perceptual decisions: a motion discrimination task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4457319" y="6399186"/>
            <a:ext cx="6511168" cy="31395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81639" tIns="55188" rIns="81639" bIns="40820">
            <a:prstTxWarp prst="textNoShape">
              <a:avLst/>
            </a:prstTxWarp>
          </a:bodyPr>
          <a:lstStyle/>
          <a:p>
            <a:pPr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US" sz="2000" dirty="0">
                <a:solidFill>
                  <a:schemeClr val="bg1">
                    <a:lumMod val="65000"/>
                  </a:schemeClr>
                </a:solidFill>
                <a:ea typeface="WenQuanYi Zen Hei" charset="0"/>
                <a:cs typeface="WenQuanYi Zen Hei" charset="0"/>
              </a:rPr>
              <a:t>Britten, Newsome,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  <a:ea typeface="WenQuanYi Zen Hei" charset="0"/>
                <a:cs typeface="WenQuanYi Zen Hei" charset="0"/>
              </a:rPr>
              <a:t>Shadlen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ea typeface="WenQuanYi Zen Hei" charset="0"/>
                <a:cs typeface="WenQuanYi Zen Hei" charset="0"/>
              </a:rPr>
              <a:t>,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  <a:ea typeface="WenQuanYi Zen Hei" charset="0"/>
                <a:cs typeface="WenQuanYi Zen Hei" charset="0"/>
              </a:rPr>
              <a:t>Celebrini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ea typeface="WenQuanYi Zen Hei" charset="0"/>
                <a:cs typeface="WenQuanYi Zen Hei" charset="0"/>
              </a:rPr>
              <a:t> and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  <a:ea typeface="WenQuanYi Zen Hei" charset="0"/>
                <a:cs typeface="WenQuanYi Zen Hei" charset="0"/>
              </a:rPr>
              <a:t>Movshon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ea typeface="WenQuanYi Zen Hei" charset="0"/>
                <a:cs typeface="WenQuanYi Zen Hei" charset="0"/>
              </a:rPr>
              <a:t>. 1996</a:t>
            </a:r>
          </a:p>
        </p:txBody>
      </p:sp>
      <p:grpSp>
        <p:nvGrpSpPr>
          <p:cNvPr id="5" name="Group 30"/>
          <p:cNvGrpSpPr/>
          <p:nvPr/>
        </p:nvGrpSpPr>
        <p:grpSpPr>
          <a:xfrm>
            <a:off x="2810899" y="1232195"/>
            <a:ext cx="6510004" cy="4703380"/>
            <a:chOff x="2699792" y="1268760"/>
            <a:chExt cx="3124200" cy="2257187"/>
          </a:xfrm>
        </p:grpSpPr>
        <p:grpSp>
          <p:nvGrpSpPr>
            <p:cNvPr id="6" name="Group 26"/>
            <p:cNvGrpSpPr/>
            <p:nvPr/>
          </p:nvGrpSpPr>
          <p:grpSpPr>
            <a:xfrm>
              <a:off x="2699792" y="1421160"/>
              <a:ext cx="3124200" cy="2104787"/>
              <a:chOff x="4648200" y="1973766"/>
              <a:chExt cx="4064000" cy="2737934"/>
            </a:xfrm>
          </p:grpSpPr>
          <p:pic>
            <p:nvPicPr>
              <p:cNvPr id="10" name="Picture 23"/>
              <p:cNvPicPr>
                <a:picLocks noChangeAspect="1"/>
              </p:cNvPicPr>
              <p:nvPr/>
            </p:nvPicPr>
            <p:blipFill>
              <a:blip r:embed="rId3" cstate="print"/>
              <a:srcRect t="9797" r="50000"/>
              <a:stretch>
                <a:fillRect/>
              </a:stretch>
            </p:blipFill>
            <p:spPr>
              <a:xfrm>
                <a:off x="4648200" y="1973766"/>
                <a:ext cx="4064000" cy="2737934"/>
              </a:xfrm>
              <a:prstGeom prst="rect">
                <a:avLst/>
              </a:prstGeom>
            </p:spPr>
          </p:pic>
          <p:sp>
            <p:nvSpPr>
              <p:cNvPr id="11" name="Ellipse 11"/>
              <p:cNvSpPr/>
              <p:nvPr/>
            </p:nvSpPr>
            <p:spPr>
              <a:xfrm>
                <a:off x="8077200" y="3048000"/>
                <a:ext cx="153814" cy="230014"/>
              </a:xfrm>
              <a:prstGeom prst="ellipse">
                <a:avLst/>
              </a:prstGeom>
              <a:solidFill>
                <a:srgbClr val="00C700"/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2" name="Ellipse 28"/>
              <p:cNvSpPr/>
              <p:nvPr/>
            </p:nvSpPr>
            <p:spPr>
              <a:xfrm>
                <a:off x="7189200" y="3096600"/>
                <a:ext cx="126000" cy="180000"/>
              </a:xfrm>
              <a:prstGeom prst="ellipse">
                <a:avLst/>
              </a:prstGeom>
              <a:solidFill>
                <a:srgbClr val="FF6600"/>
              </a:solidFill>
              <a:ln w="6350" cap="flat" cmpd="sng" algn="ctr">
                <a:solidFill>
                  <a:srgbClr val="FF66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7" name="Rectangle 35"/>
            <p:cNvSpPr/>
            <p:nvPr/>
          </p:nvSpPr>
          <p:spPr>
            <a:xfrm>
              <a:off x="4757192" y="1268760"/>
              <a:ext cx="762000" cy="228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343401" y="2180168"/>
              <a:ext cx="228599" cy="774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" name="Straight Connector 28"/>
            <p:cNvCxnSpPr/>
            <p:nvPr/>
          </p:nvCxnSpPr>
          <p:spPr>
            <a:xfrm flipV="1">
              <a:off x="3899792" y="2339760"/>
              <a:ext cx="1080000" cy="36000"/>
            </a:xfrm>
            <a:prstGeom prst="line">
              <a:avLst/>
            </a:prstGeom>
            <a:ln w="2540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280482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1921</TotalTime>
  <Words>49</Words>
  <Application>Microsoft Macintosh PowerPoint</Application>
  <PresentationFormat>Widescreen</PresentationFormat>
  <Paragraphs>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WenQuanYi Zen Hei</vt:lpstr>
      <vt:lpstr>Office Theme</vt:lpstr>
      <vt:lpstr>Evidence accumulation in cortical circuits</vt:lpstr>
      <vt:lpstr>Perceptual decisions: a motion discrimination task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 LA ROCHA, JAIME(IDIBAPS)</dc:creator>
  <cp:lastModifiedBy>DE LA ROCHA, JAIME(IDIBAPS)</cp:lastModifiedBy>
  <cp:revision>3</cp:revision>
  <dcterms:created xsi:type="dcterms:W3CDTF">2025-06-12T08:23:26Z</dcterms:created>
  <dcterms:modified xsi:type="dcterms:W3CDTF">2025-06-13T16:24:55Z</dcterms:modified>
</cp:coreProperties>
</file>